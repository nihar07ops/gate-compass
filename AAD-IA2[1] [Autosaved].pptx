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4" r:id="rId4"/>
    <p:sldId id="274" r:id="rId5"/>
    <p:sldId id="258" r:id="rId6"/>
    <p:sldId id="260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EEF"/>
    <a:srgbClr val="193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622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063DF40-A8A3-4DA3-BD7C-9127AEC766A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22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29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CAB86D0-B768-4562-89BC-E8787C2A996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462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3D7F70-3C44-4A10-B402-237D081EF68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95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C37DAC8-FAEE-4EBF-9802-8F4C1CDBA59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883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24F67EE-8DD9-4074-B7FD-52ECB918F0F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413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flipV="1">
            <a:off x="0" y="-237847"/>
            <a:ext cx="9144000" cy="42665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6A4F2C6-3A16-428D-8890-8CD81BD7772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1C45B1E-3714-436F-A336-26E1E49CD898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1"/>
            <a:ext cx="308113" cy="36512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314325" y="365126"/>
            <a:ext cx="222388" cy="244475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511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ABE1673-0D0B-4441-9CB1-B21E39A3144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002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214C546-1FC5-4073-85DF-A5463AB3A4F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076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58E50A4-9416-4E34-AD0E-4D28205B3AB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736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F098787-47D2-48A9-9C71-66F5A7452A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117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4723805" y="446484"/>
            <a:ext cx="3750469" cy="578643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669727" y="446484"/>
            <a:ext cx="3750469" cy="2803922"/>
          </a:xfrm>
          <a:prstGeom prst="rect">
            <a:avLst/>
          </a:prstGeom>
        </p:spPr>
        <p:txBody>
          <a:bodyPr anchor="b"/>
          <a:lstStyle>
            <a:lvl1pPr>
              <a:defRPr sz="3164"/>
            </a:lvl1pPr>
          </a:lstStyle>
          <a:p>
            <a:r>
              <a:t>Title 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669727" y="3348634"/>
            <a:ext cx="3750469" cy="288428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88"/>
            </a:lvl1pPr>
            <a:lvl2pPr marL="0" indent="120547" algn="ctr">
              <a:spcBef>
                <a:spcPts val="0"/>
              </a:spcBef>
              <a:buSzTx/>
              <a:buNone/>
              <a:defRPr sz="1688"/>
            </a:lvl2pPr>
            <a:lvl3pPr marL="0" indent="241093" algn="ctr">
              <a:spcBef>
                <a:spcPts val="0"/>
              </a:spcBef>
              <a:buSzTx/>
              <a:buNone/>
              <a:defRPr sz="1688"/>
            </a:lvl3pPr>
            <a:lvl4pPr marL="0" indent="361640" algn="ctr">
              <a:spcBef>
                <a:spcPts val="0"/>
              </a:spcBef>
              <a:buSzTx/>
              <a:buNone/>
              <a:defRPr sz="1688"/>
            </a:lvl4pPr>
            <a:lvl5pPr marL="0" indent="482186" algn="ctr">
              <a:spcBef>
                <a:spcPts val="0"/>
              </a:spcBef>
              <a:buSzTx/>
              <a:buNone/>
              <a:defRPr sz="1688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xfrm>
            <a:off x="4437983" y="6505278"/>
            <a:ext cx="259105" cy="2678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white"/>
                </a:solidFill>
              </a:rPr>
              <a:pPr/>
              <a:t>‹#›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717593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311701" y="842402"/>
            <a:ext cx="2807999" cy="10075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1800"/>
            </a:lvl1pPr>
            <a:lvl2pPr lvl="1">
              <a:spcBef>
                <a:spcPts val="0"/>
              </a:spcBef>
              <a:buSzPct val="100000"/>
              <a:defRPr sz="1800"/>
            </a:lvl2pPr>
            <a:lvl3pPr lvl="2">
              <a:spcBef>
                <a:spcPts val="0"/>
              </a:spcBef>
              <a:buSzPct val="100000"/>
              <a:defRPr sz="1800"/>
            </a:lvl3pPr>
            <a:lvl4pPr lvl="3">
              <a:spcBef>
                <a:spcPts val="0"/>
              </a:spcBef>
              <a:buSzPct val="100000"/>
              <a:defRPr sz="1800"/>
            </a:lvl4pPr>
            <a:lvl5pPr lvl="4">
              <a:spcBef>
                <a:spcPts val="0"/>
              </a:spcBef>
              <a:buSzPct val="100000"/>
              <a:defRPr sz="1800"/>
            </a:lvl5pPr>
            <a:lvl6pPr lvl="5">
              <a:spcBef>
                <a:spcPts val="0"/>
              </a:spcBef>
              <a:buSzPct val="100000"/>
              <a:defRPr sz="1800"/>
            </a:lvl6pPr>
            <a:lvl7pPr lvl="6">
              <a:spcBef>
                <a:spcPts val="0"/>
              </a:spcBef>
              <a:buSzPct val="100000"/>
              <a:defRPr sz="1800"/>
            </a:lvl7pPr>
            <a:lvl8pPr lvl="7">
              <a:spcBef>
                <a:spcPts val="0"/>
              </a:spcBef>
              <a:buSzPct val="100000"/>
              <a:defRPr sz="1800"/>
            </a:lvl8pPr>
            <a:lvl9pPr lvl="8">
              <a:spcBef>
                <a:spcPts val="0"/>
              </a:spcBef>
              <a:buSzPct val="100000"/>
              <a:defRPr sz="180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311701" y="2157604"/>
            <a:ext cx="2807999" cy="393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900"/>
            </a:lvl1pPr>
            <a:lvl2pPr lvl="1">
              <a:spcBef>
                <a:spcPts val="0"/>
              </a:spcBef>
              <a:buSzPct val="100000"/>
              <a:defRPr sz="900"/>
            </a:lvl2pPr>
            <a:lvl3pPr lvl="2">
              <a:spcBef>
                <a:spcPts val="0"/>
              </a:spcBef>
              <a:buSzPct val="100000"/>
              <a:defRPr sz="900"/>
            </a:lvl3pPr>
            <a:lvl4pPr lvl="3">
              <a:spcBef>
                <a:spcPts val="0"/>
              </a:spcBef>
              <a:buSzPct val="100000"/>
              <a:defRPr sz="900"/>
            </a:lvl4pPr>
            <a:lvl5pPr lvl="4">
              <a:spcBef>
                <a:spcPts val="0"/>
              </a:spcBef>
              <a:buSzPct val="100000"/>
              <a:defRPr sz="900"/>
            </a:lvl5pPr>
            <a:lvl6pPr lvl="5">
              <a:spcBef>
                <a:spcPts val="0"/>
              </a:spcBef>
              <a:buSzPct val="100000"/>
              <a:defRPr sz="900"/>
            </a:lvl6pPr>
            <a:lvl7pPr lvl="6">
              <a:spcBef>
                <a:spcPts val="0"/>
              </a:spcBef>
              <a:buSzPct val="100000"/>
              <a:defRPr sz="900"/>
            </a:lvl7pPr>
            <a:lvl8pPr lvl="7">
              <a:spcBef>
                <a:spcPts val="0"/>
              </a:spcBef>
              <a:buSzPct val="100000"/>
              <a:defRPr sz="900"/>
            </a:lvl8pPr>
            <a:lvl9pPr lvl="8">
              <a:spcBef>
                <a:spcPts val="0"/>
              </a:spcBef>
              <a:buSzPct val="100000"/>
              <a:defRPr sz="900"/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8472458" y="6217621"/>
            <a:ext cx="548699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>
                <a:solidFill>
                  <a:prstClr val="white"/>
                </a:solidFill>
              </a:rPr>
              <a:pPr/>
              <a:t>‹#›</a:t>
            </a:fld>
            <a:endParaRPr lang="en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633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7" y="351211"/>
            <a:ext cx="8382000" cy="553998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1" y="1411553"/>
            <a:ext cx="8382000" cy="221086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020015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21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xfrm>
            <a:off x="669727" y="312540"/>
            <a:ext cx="7804547" cy="1518047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xfrm>
            <a:off x="4437983" y="6505278"/>
            <a:ext cx="259105" cy="2678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white"/>
                </a:solidFill>
              </a:rPr>
              <a:pPr/>
              <a:t>‹#›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68422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429002"/>
            <a:ext cx="9144000" cy="3428999"/>
          </a:xfrm>
          <a:prstGeom prst="rect">
            <a:avLst/>
          </a:prstGeom>
          <a:solidFill>
            <a:srgbClr val="5853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0" y="2"/>
            <a:ext cx="9144000" cy="3428999"/>
          </a:xfrm>
          <a:prstGeom prst="rect">
            <a:avLst/>
          </a:prstGeom>
          <a:solidFill>
            <a:srgbClr val="ADB2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461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1" y="0"/>
            <a:ext cx="7043208" cy="15234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40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6" y="4344989"/>
            <a:ext cx="7043208" cy="4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342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22050" y="2355850"/>
            <a:ext cx="7690114" cy="1384994"/>
          </a:xfrm>
          <a:prstGeom prst="rect">
            <a:avLst/>
          </a:prstGeom>
        </p:spPr>
        <p:txBody>
          <a:bodyPr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7499" b="1" i="1" u="none" strike="noStrike" kern="1200" cap="none" spc="-48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264034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81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767" y="117520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1"/>
            <a:ext cx="308113" cy="3651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14325" y="365126"/>
            <a:ext cx="222388" cy="244475"/>
          </a:xfrm>
          <a:prstGeom prst="rect">
            <a:avLst/>
          </a:prstGeom>
          <a:solidFill>
            <a:srgbClr val="193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1" y="6492876"/>
            <a:ext cx="9144000" cy="3651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626821" y="584452"/>
            <a:ext cx="8517179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-1" y="6590108"/>
            <a:ext cx="9144001" cy="267893"/>
          </a:xfrm>
          <a:prstGeom prst="rect">
            <a:avLst/>
          </a:prstGeom>
          <a:solidFill>
            <a:srgbClr val="193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pPr defTabSz="342900"/>
            <a:fld id="{01C45B1E-3714-436F-A336-26E1E49CD898}" type="slidenum">
              <a:rPr lang="en-US" smtClean="0">
                <a:solidFill>
                  <a:prstClr val="white"/>
                </a:solidFill>
              </a:rPr>
              <a:pPr defTabSz="342900"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93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42689"/>
            <a:ext cx="8134672" cy="798652"/>
          </a:xfrm>
        </p:spPr>
        <p:txBody>
          <a:bodyPr>
            <a:noAutofit/>
          </a:bodyPr>
          <a:lstStyle/>
          <a:p>
            <a:r>
              <a:rPr lang="en-IN" sz="7200" b="1" dirty="0"/>
              <a:t>GATE C    MPASS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232280" y="2395769"/>
            <a:ext cx="60441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A smart web-based platform for GATE CSIT aspirants</a:t>
            </a:r>
          </a:p>
          <a:p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Features mock tests, trend analysis, timers &amp; analytics.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9E4D67-6091-E653-C960-F17259DE91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880" y="970577"/>
            <a:ext cx="1320800" cy="79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963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60" y="953953"/>
            <a:ext cx="7886700" cy="812849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55604"/>
            <a:ext cx="5188420" cy="3821198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endParaRPr lang="en-IN" sz="4000" b="1" dirty="0"/>
          </a:p>
          <a:p>
            <a:r>
              <a:rPr lang="en-US" sz="2800" dirty="0">
                <a:solidFill>
                  <a:schemeClr val="tx1"/>
                </a:solidFill>
              </a:rPr>
              <a:t>GATE aspirants lack personalized, trend‑focused preparation tools.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Manual selection of concepts and questions is time-consuming.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No integrated system for mock test generation with real exam-like timers.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Limited analytics for identifying weak concepts &amp; improvement areas.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D1F6FE-B572-BACB-7091-2E0EA380B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654" y="1859279"/>
            <a:ext cx="3673586" cy="382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443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00390"/>
            <a:ext cx="8910320" cy="812849"/>
          </a:xfrm>
        </p:spPr>
        <p:txBody>
          <a:bodyPr>
            <a:normAutofit/>
          </a:bodyPr>
          <a:lstStyle/>
          <a:p>
            <a:pPr algn="ctr"/>
            <a:r>
              <a:rPr lang="en-IN" sz="3200" dirty="0"/>
              <a:t>Product/ Solution -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730" y="1930400"/>
            <a:ext cx="4817110" cy="3927210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endParaRPr lang="en-IN" dirty="0"/>
          </a:p>
          <a:p>
            <a:r>
              <a:rPr lang="en-IN" sz="2800" dirty="0"/>
              <a:t>AI-driven trend analysis of previous years’ GATE CSIT questions.</a:t>
            </a:r>
          </a:p>
          <a:p>
            <a:endParaRPr lang="en-IN" sz="2800" dirty="0"/>
          </a:p>
          <a:p>
            <a:r>
              <a:rPr lang="en-IN" sz="2800" dirty="0"/>
              <a:t>Smart mock test generator based on concept importance.</a:t>
            </a:r>
          </a:p>
          <a:p>
            <a:endParaRPr lang="en-IN" sz="2800" dirty="0"/>
          </a:p>
          <a:p>
            <a:r>
              <a:rPr lang="en-IN" sz="2800" dirty="0"/>
              <a:t>Integrated 3-hour timer &amp; per-question time tracking.</a:t>
            </a:r>
          </a:p>
          <a:p>
            <a:endParaRPr lang="en-IN" sz="2800" dirty="0"/>
          </a:p>
          <a:p>
            <a:r>
              <a:rPr lang="en-IN" sz="2800" dirty="0"/>
              <a:t>Concept-wise performance analytics &amp; personalized feedback.</a:t>
            </a:r>
          </a:p>
          <a:p>
            <a:endParaRPr lang="en-US" sz="24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622265-667E-CBAD-D86D-FF0654152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400" y="2184400"/>
            <a:ext cx="4007891" cy="419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30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40E0A1-23AB-A18C-C5FF-11A0E17D0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white"/>
                </a:solidFill>
              </a:rPr>
              <a:pPr/>
              <a:t>4</a:t>
            </a:fld>
            <a:endParaRPr lang="en-US">
              <a:solidFill>
                <a:prstClr val="white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27BA92-14E8-3190-998A-CB6B1F434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54" y="-121920"/>
            <a:ext cx="8304837" cy="647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248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841" y="1448189"/>
            <a:ext cx="7886700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endParaRPr lang="en-IN" sz="3200" b="1" dirty="0"/>
          </a:p>
          <a:p>
            <a:r>
              <a:rPr lang="en-US" sz="2800" dirty="0"/>
              <a:t>Large number of GATE CSIT aspirants every year (~2L+).</a:t>
            </a:r>
          </a:p>
          <a:p>
            <a:endParaRPr lang="en-US" sz="2800" dirty="0"/>
          </a:p>
          <a:p>
            <a:r>
              <a:rPr lang="en-US" sz="2800" dirty="0"/>
              <a:t>High demand for structured and analytics-driven preparation tools.</a:t>
            </a:r>
          </a:p>
          <a:p>
            <a:endParaRPr lang="en-US" sz="2800" dirty="0"/>
          </a:p>
          <a:p>
            <a:r>
              <a:rPr lang="en-US" sz="2800" dirty="0"/>
              <a:t>Competitors: </a:t>
            </a:r>
            <a:r>
              <a:rPr lang="en-US" sz="2800" dirty="0" err="1"/>
              <a:t>MadeEasy</a:t>
            </a:r>
            <a:r>
              <a:rPr lang="en-US" sz="2800" dirty="0"/>
              <a:t>, </a:t>
            </a:r>
            <a:r>
              <a:rPr lang="en-US" sz="2800" dirty="0" err="1"/>
              <a:t>Testbook</a:t>
            </a:r>
            <a:r>
              <a:rPr lang="en-US" sz="2800" dirty="0"/>
              <a:t>, </a:t>
            </a:r>
            <a:r>
              <a:rPr lang="en-US" sz="2800" dirty="0" err="1"/>
              <a:t>Unacademy</a:t>
            </a:r>
            <a:r>
              <a:rPr lang="en-US" sz="2800" dirty="0"/>
              <a:t> (but no trend-based generator).</a:t>
            </a:r>
          </a:p>
          <a:p>
            <a:endParaRPr lang="en-US" sz="2800" dirty="0"/>
          </a:p>
          <a:p>
            <a:r>
              <a:rPr lang="en-US" sz="2800" dirty="0"/>
              <a:t>Uniqueness: Automated trend-based personalized mock tests.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BA4C26-D319-F381-C57F-016C9027F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754" y="1173542"/>
            <a:ext cx="7886700" cy="812849"/>
          </a:xfrm>
        </p:spPr>
        <p:txBody>
          <a:bodyPr>
            <a:noAutofit/>
          </a:bodyPr>
          <a:lstStyle/>
          <a:p>
            <a:r>
              <a:rPr lang="en-IN" sz="3200" dirty="0"/>
              <a:t>Market Landscape – Potential &amp; Competitors</a:t>
            </a:r>
            <a:br>
              <a:rPr lang="en-IN" sz="3200" dirty="0"/>
            </a:b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90" y="812777"/>
            <a:ext cx="7886700" cy="812849"/>
          </a:xfrm>
        </p:spPr>
        <p:txBody>
          <a:bodyPr>
            <a:normAutofit/>
          </a:bodyPr>
          <a:lstStyle/>
          <a:p>
            <a:r>
              <a:rPr lang="en-IN" sz="3200" dirty="0"/>
              <a:t>Business Model &amp;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7" y="1513840"/>
            <a:ext cx="4546743" cy="4672456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Revenue Model: Subscription plans (monthly/yearly).</a:t>
            </a:r>
          </a:p>
          <a:p>
            <a:endParaRPr lang="en-US" sz="2800" dirty="0"/>
          </a:p>
          <a:p>
            <a:r>
              <a:rPr lang="en-US" sz="2800" dirty="0"/>
              <a:t>Freemium: Basic mock test free, advanced analytics paid.</a:t>
            </a:r>
          </a:p>
          <a:p>
            <a:endParaRPr lang="en-US" sz="2800" dirty="0"/>
          </a:p>
          <a:p>
            <a:r>
              <a:rPr lang="en-US" sz="2800" dirty="0"/>
              <a:t>B2C Model targeting individual aspirants.</a:t>
            </a:r>
          </a:p>
          <a:p>
            <a:endParaRPr lang="en-US" sz="2800" dirty="0"/>
          </a:p>
          <a:p>
            <a:r>
              <a:rPr lang="en-US" sz="2800" dirty="0"/>
              <a:t>Future: Institutional licensing for colleges/training centers.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6D21C0-1CB8-3ABA-83ED-87500E6E9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7280" y="975360"/>
            <a:ext cx="4124959" cy="492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18424"/>
            <a:ext cx="7886700" cy="812849"/>
          </a:xfrm>
        </p:spPr>
        <p:txBody>
          <a:bodyPr>
            <a:normAutofit/>
          </a:bodyPr>
          <a:lstStyle/>
          <a:p>
            <a:r>
              <a:rPr lang="en-IN" sz="3200" dirty="0"/>
              <a:t>Product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70" y="1778000"/>
            <a:ext cx="3444418" cy="4214148"/>
          </a:xfrm>
        </p:spPr>
        <p:txBody>
          <a:bodyPr>
            <a:normAutofit fontScale="92500" lnSpcReduction="20000"/>
          </a:bodyPr>
          <a:lstStyle/>
          <a:p>
            <a:r>
              <a:rPr lang="en-IN" sz="2800" dirty="0"/>
              <a:t>MVP: Mock test generator + timer + basic analytics.</a:t>
            </a:r>
          </a:p>
          <a:p>
            <a:endParaRPr lang="en-IN" sz="2800" dirty="0"/>
          </a:p>
          <a:p>
            <a:r>
              <a:rPr lang="en-IN" sz="2800" dirty="0"/>
              <a:t>Beta: Trend analysis dashboard + admin module.</a:t>
            </a:r>
          </a:p>
          <a:p>
            <a:endParaRPr lang="en-IN" sz="2800" dirty="0"/>
          </a:p>
          <a:p>
            <a:r>
              <a:rPr lang="en-IN" sz="2800" dirty="0"/>
              <a:t>Final Launch: Full analytics, concept suggestions, user history.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49CF0E-5365-E953-7B68-43CD64251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400" y="1136124"/>
            <a:ext cx="5609412" cy="50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600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50A7A-4E66-75C3-991F-2F49EC0C1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30" y="857943"/>
            <a:ext cx="7886700" cy="812849"/>
          </a:xfrm>
        </p:spPr>
        <p:txBody>
          <a:bodyPr>
            <a:normAutofit/>
          </a:bodyPr>
          <a:lstStyle/>
          <a:p>
            <a:r>
              <a:rPr lang="en-IN" sz="2800" dirty="0"/>
              <a:t>Requirement 1 – Email Login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E42F8-A9E1-65E5-C7D4-3017377B3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30" y="1670792"/>
            <a:ext cx="4966390" cy="4573346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Secure sign-in using Google OAuth.</a:t>
            </a:r>
          </a:p>
          <a:p>
            <a:endParaRPr lang="en-US" sz="2800" dirty="0"/>
          </a:p>
          <a:p>
            <a:r>
              <a:rPr lang="en-US" sz="2800" dirty="0"/>
              <a:t>No separate platform credentials required.</a:t>
            </a:r>
          </a:p>
          <a:p>
            <a:endParaRPr lang="en-US" sz="2800" dirty="0"/>
          </a:p>
          <a:p>
            <a:r>
              <a:rPr lang="en-US" sz="2800" dirty="0"/>
              <a:t>Automatic session maintenance.</a:t>
            </a:r>
          </a:p>
          <a:p>
            <a:endParaRPr lang="en-US" sz="2800" dirty="0"/>
          </a:p>
          <a:p>
            <a:r>
              <a:rPr lang="en-US" sz="2800" dirty="0"/>
              <a:t>Error-handling for failed authentication.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BDCB0-06EE-90A2-F606-3FBF778FF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1B4522-F86F-494F-7ECA-D4ED264E3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1" y="857943"/>
            <a:ext cx="4420870" cy="538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01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5A22-F86B-D8C6-8CF1-ADC430A2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" y="744317"/>
            <a:ext cx="8434070" cy="812849"/>
          </a:xfrm>
        </p:spPr>
        <p:txBody>
          <a:bodyPr>
            <a:normAutofit/>
          </a:bodyPr>
          <a:lstStyle/>
          <a:p>
            <a:r>
              <a:rPr lang="en-IN" sz="2800" dirty="0"/>
              <a:t>Requirement 2 – Trend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718CE-ED2A-E204-C856-96335F660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50" y="1557166"/>
            <a:ext cx="4413250" cy="448056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Categorizes previous year questions by concepts.</a:t>
            </a:r>
          </a:p>
          <a:p>
            <a:endParaRPr lang="en-US" sz="2800" dirty="0"/>
          </a:p>
          <a:p>
            <a:r>
              <a:rPr lang="en-US" sz="2800" dirty="0"/>
              <a:t>Frequency calculation &amp; importance ranking.</a:t>
            </a:r>
          </a:p>
          <a:p>
            <a:endParaRPr lang="en-US" sz="2800" dirty="0"/>
          </a:p>
          <a:p>
            <a:r>
              <a:rPr lang="en-US" sz="2800" dirty="0"/>
              <a:t>Visual representation of concept trends.</a:t>
            </a:r>
          </a:p>
          <a:p>
            <a:endParaRPr lang="en-US" sz="2800" dirty="0"/>
          </a:p>
          <a:p>
            <a:r>
              <a:rPr lang="en-US" sz="2800" dirty="0"/>
              <a:t>Auto update when new questions are added.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0ABB9-3F4F-CAD5-5207-64A500CC1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A3AFA2-594D-6D90-8912-DF88C6848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016" y="744317"/>
            <a:ext cx="4310234" cy="559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851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89013-88E9-87AD-BFEE-774D17230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" y="881093"/>
            <a:ext cx="7886700" cy="812849"/>
          </a:xfrm>
        </p:spPr>
        <p:txBody>
          <a:bodyPr>
            <a:normAutofit/>
          </a:bodyPr>
          <a:lstStyle/>
          <a:p>
            <a:r>
              <a:rPr lang="en-US" sz="3200" dirty="0"/>
              <a:t>Requirement 3 – Mock Test Generation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7B5BB-283F-DD29-28A7-431F6A460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" y="1818639"/>
            <a:ext cx="3862070" cy="4158267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Generates mock tests using question bank.</a:t>
            </a:r>
          </a:p>
          <a:p>
            <a:endParaRPr lang="en-US" sz="2800" dirty="0"/>
          </a:p>
          <a:p>
            <a:r>
              <a:rPr lang="en-US" sz="2800" dirty="0"/>
              <a:t>Prioritizes high‑importance concepts.</a:t>
            </a:r>
          </a:p>
          <a:p>
            <a:endParaRPr lang="en-US" sz="2800" dirty="0"/>
          </a:p>
          <a:p>
            <a:r>
              <a:rPr lang="en-US" sz="2800" dirty="0"/>
              <a:t>Ensures difficulty</a:t>
            </a:r>
          </a:p>
          <a:p>
            <a:r>
              <a:rPr lang="en-US" sz="2800" dirty="0"/>
              <a:t> balance &amp; coverage.</a:t>
            </a:r>
          </a:p>
          <a:p>
            <a:endParaRPr lang="en-US" sz="2800" dirty="0"/>
          </a:p>
          <a:p>
            <a:r>
              <a:rPr lang="en-US" sz="2800" dirty="0"/>
              <a:t>Unique test session ID generated each time.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D5D7C-B2FD-A78B-33DF-489F684A9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64E28A-3728-9DFA-0B25-B0597F9ED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986" y="1693942"/>
            <a:ext cx="5343826" cy="415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3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2C5C3-623F-0BCF-D38F-5CD5F4359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06999"/>
            <a:ext cx="7886700" cy="812849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Requirement 4 – 3-Hour Timer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05736-FC27-30A0-4C9A-62F562B74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74" y="1976859"/>
            <a:ext cx="7886700" cy="4351338"/>
          </a:xfrm>
        </p:spPr>
        <p:txBody>
          <a:bodyPr>
            <a:normAutofit/>
          </a:bodyPr>
          <a:lstStyle/>
          <a:p>
            <a:r>
              <a:rPr lang="en-US" sz="2800" dirty="0"/>
              <a:t>Exam-like countdown timer for mock tests.</a:t>
            </a:r>
          </a:p>
          <a:p>
            <a:endParaRPr lang="en-US" sz="2800" dirty="0"/>
          </a:p>
          <a:p>
            <a:r>
              <a:rPr lang="en-US" sz="2800" dirty="0"/>
              <a:t>Auto-submit on expiry.</a:t>
            </a:r>
          </a:p>
          <a:p>
            <a:endParaRPr lang="en-US" sz="2800" dirty="0"/>
          </a:p>
          <a:p>
            <a:r>
              <a:rPr lang="en-US" sz="2800" dirty="0"/>
              <a:t>Timer persists across navigation.</a:t>
            </a:r>
          </a:p>
          <a:p>
            <a:endParaRPr lang="en-US" sz="2800" dirty="0"/>
          </a:p>
          <a:p>
            <a:r>
              <a:rPr lang="en-US" sz="2800" dirty="0"/>
              <a:t>Stops on manual submission</a:t>
            </a:r>
            <a:endParaRPr lang="en-I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5DBF7-CDEB-9507-8472-679F4B6B4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025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63A44-932C-A8FE-0F8D-F5C913CEA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55041"/>
            <a:ext cx="8515350" cy="830084"/>
          </a:xfrm>
        </p:spPr>
        <p:txBody>
          <a:bodyPr>
            <a:normAutofit/>
          </a:bodyPr>
          <a:lstStyle/>
          <a:p>
            <a:r>
              <a:rPr lang="en-US" sz="2800" dirty="0"/>
              <a:t>Requirement 5 &amp; 6 – Time Tracking &amp; Navigation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7AA4-7BDB-0F79-5C72-4FF242942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610" y="1785124"/>
            <a:ext cx="3557270" cy="4572635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Tracks per-question time &amp; stores results.</a:t>
            </a:r>
          </a:p>
          <a:p>
            <a:endParaRPr lang="en-US" sz="2800" dirty="0"/>
          </a:p>
          <a:p>
            <a:r>
              <a:rPr lang="en-US" sz="2800" dirty="0"/>
              <a:t>Question palette with answered/unanswered/review markers.</a:t>
            </a:r>
          </a:p>
          <a:p>
            <a:endParaRPr lang="en-US" sz="2800" dirty="0"/>
          </a:p>
          <a:p>
            <a:r>
              <a:rPr lang="en-US" sz="2800" dirty="0"/>
              <a:t>Automatic answer state saving.</a:t>
            </a:r>
          </a:p>
          <a:p>
            <a:endParaRPr lang="en-US" sz="2800" dirty="0"/>
          </a:p>
          <a:p>
            <a:r>
              <a:rPr lang="en-US" sz="2800" dirty="0"/>
              <a:t>Free navigation between questions</a:t>
            </a:r>
            <a:endParaRPr lang="en-I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AC8C2-D0F3-BA24-523F-C608DF67F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F245E2-072B-CB90-3FE8-FD385D2A6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880" y="1653222"/>
            <a:ext cx="5290020" cy="470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090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CBC99-9806-F454-AEC1-27D40A384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29" y="763931"/>
            <a:ext cx="7886700" cy="812849"/>
          </a:xfrm>
        </p:spPr>
        <p:txBody>
          <a:bodyPr>
            <a:normAutofit/>
          </a:bodyPr>
          <a:lstStyle/>
          <a:p>
            <a:r>
              <a:rPr lang="en-US" sz="2800" dirty="0"/>
              <a:t>Requirement 7 &amp; 8 – Results &amp; Admin Controls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39C49-F7D1-D12B-04FB-8A676210E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810" y="1656080"/>
            <a:ext cx="3130550" cy="4635576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/>
              <a:t>Score with breakdown + explanations.</a:t>
            </a:r>
          </a:p>
          <a:p>
            <a:endParaRPr lang="en-US" sz="2800" dirty="0"/>
          </a:p>
          <a:p>
            <a:r>
              <a:rPr lang="en-US" sz="2800" dirty="0"/>
              <a:t>Concept-wise performance analytics.</a:t>
            </a:r>
          </a:p>
          <a:p>
            <a:endParaRPr lang="en-US" sz="2800" dirty="0"/>
          </a:p>
          <a:p>
            <a:r>
              <a:rPr lang="en-US" sz="2800" dirty="0"/>
              <a:t>Improvement suggestions with chapter recommendations.</a:t>
            </a:r>
          </a:p>
          <a:p>
            <a:endParaRPr lang="en-US" sz="2800" dirty="0"/>
          </a:p>
          <a:p>
            <a:r>
              <a:rPr lang="en-US" sz="2800" dirty="0"/>
              <a:t>Admin tools to update question bank &amp; trends.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D0770-6DD0-DA39-0A74-1ADA489D5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54B450-1C46-F988-74E2-ADC7C313A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094" y="1576780"/>
            <a:ext cx="5777906" cy="451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085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17444-0B08-78AB-DE24-E8EC89BD0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397" y="844954"/>
            <a:ext cx="7886700" cy="812849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C5BDE-9713-E4B9-24D5-4FF3469DA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81257"/>
            <a:ext cx="7886700" cy="4351338"/>
          </a:xfrm>
        </p:spPr>
        <p:txBody>
          <a:bodyPr/>
          <a:lstStyle/>
          <a:p>
            <a:r>
              <a:rPr lang="en-US" sz="2800" dirty="0"/>
              <a:t>GATE COMPASS enables smart, personalized test preparation.</a:t>
            </a:r>
          </a:p>
          <a:p>
            <a:endParaRPr lang="en-US" sz="2800" dirty="0"/>
          </a:p>
          <a:p>
            <a:r>
              <a:rPr lang="en-US" sz="2800" dirty="0"/>
              <a:t>Trend-based mock tests improve efficiency &amp; accuracy.</a:t>
            </a:r>
          </a:p>
          <a:p>
            <a:endParaRPr lang="en-US" sz="2800" dirty="0"/>
          </a:p>
          <a:p>
            <a:r>
              <a:rPr lang="en-US" sz="2800" dirty="0"/>
              <a:t>Full analytics guide aspirants toward better performance.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613CF-F146-4021-218C-8D99E64D5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249554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Words>451</Words>
  <Application>Microsoft Office PowerPoint</Application>
  <PresentationFormat>On-screen Show (4:3)</PresentationFormat>
  <Paragraphs>112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5_Office Theme</vt:lpstr>
      <vt:lpstr>GATE C    MPASS</vt:lpstr>
      <vt:lpstr>Problem Statement</vt:lpstr>
      <vt:lpstr>Product/ Solution - Innovation</vt:lpstr>
      <vt:lpstr>PowerPoint Presentation</vt:lpstr>
      <vt:lpstr>Market Landscape – Potential &amp; Competitors </vt:lpstr>
      <vt:lpstr>Business Model &amp; Strategy</vt:lpstr>
      <vt:lpstr>Product Milestones</vt:lpstr>
      <vt:lpstr>Requirement 1 – Email Login</vt:lpstr>
      <vt:lpstr>Requirement 2 – Trend Analysis</vt:lpstr>
      <vt:lpstr>Requirement 3 – Mock Test Generation</vt:lpstr>
      <vt:lpstr>Requirement 4 – 3-Hour Timer</vt:lpstr>
      <vt:lpstr>Requirement 5 &amp; 6 – Time Tracking &amp; Navigation</vt:lpstr>
      <vt:lpstr>Requirement 7 &amp; 8 – Results &amp; Admin Controls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template of PPT -  Application for Pitching</dc:title>
  <dc:creator>Admin</dc:creator>
  <cp:lastModifiedBy>Chaithra M</cp:lastModifiedBy>
  <cp:revision>8</cp:revision>
  <dcterms:created xsi:type="dcterms:W3CDTF">2017-07-03T16:53:36Z</dcterms:created>
  <dcterms:modified xsi:type="dcterms:W3CDTF">2025-12-12T17:34:21Z</dcterms:modified>
</cp:coreProperties>
</file>